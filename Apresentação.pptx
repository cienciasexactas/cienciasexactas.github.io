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78" r:id="rId3"/>
    <p:sldId id="261" r:id="rId4"/>
    <p:sldId id="288" r:id="rId5"/>
    <p:sldId id="279" r:id="rId6"/>
    <p:sldId id="280" r:id="rId7"/>
    <p:sldId id="282" r:id="rId8"/>
    <p:sldId id="281" r:id="rId9"/>
    <p:sldId id="283" r:id="rId10"/>
    <p:sldId id="284" r:id="rId11"/>
    <p:sldId id="285" r:id="rId12"/>
    <p:sldId id="286" r:id="rId13"/>
    <p:sldId id="287" r:id="rId14"/>
    <p:sldId id="271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61FD2-BF06-47BA-BC94-114C8815C62B}" type="datetimeFigureOut">
              <a:rPr lang="pt-PT" smtClean="0"/>
              <a:t>13/02/2025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AC585-7D48-45D1-A9DB-4CE95BC312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471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3BA39-2AB0-F20D-C1DD-135778981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FFF1B-25AA-1F29-C5C6-1E12CB1BC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6243103-0AEE-1958-11BF-146D8AE1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190E-B6CD-4A13-AF6B-80C12DFE436C}" type="datetime1">
              <a:rPr lang="pt-PT" smtClean="0"/>
              <a:t>13/02/2025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C4888CC-856F-89ED-C09C-7B246FD8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9DDE36-4370-43CE-4A0B-37BD5C6B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589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0E4B0-6030-63A1-BE7D-49F81B51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B7FE802-8B33-AA47-E943-B86706EED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F1DA476-7AA4-82D6-7B76-942B98974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ACC38-3FA4-4DB6-9914-C2606DD967FA}" type="datetime1">
              <a:rPr lang="pt-PT" smtClean="0"/>
              <a:t>13/02/2025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7F0153D-3EE3-8AC2-4F00-D87EE19D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E61BB23-ED51-35F9-AF26-1E3CDBE4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554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CB9A4-4480-0105-13F1-496D15FA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FA3E3BE-E7A3-02CA-282B-51A247C14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59A97B5-9CE6-BDD9-AD83-D784B793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D1037-C893-44ED-B11D-1B18EB7F6D82}" type="datetime1">
              <a:rPr lang="pt-PT" smtClean="0"/>
              <a:t>13/02/2025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6EE918D-7C87-979A-C1D4-D369BF28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88CA301-7E42-9135-A5CB-C6763ADA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4820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0CA6E-312F-82DA-5BD4-2C8DDA2E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59EC5A8-A7C9-5BAF-6884-77639FC08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0BD5054-4ACF-921F-6824-CE7744E73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70148FA-83B3-2C69-B8E9-65FA7F61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9E9A8-A162-492C-8388-AEC0D9A5075D}" type="datetime1">
              <a:rPr lang="pt-PT" smtClean="0"/>
              <a:t>13/02/2025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E29885A-B340-5B17-B98C-89FBDA97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20EC02B-979B-12AF-F49A-A649D869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32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DD3D2-BD3A-756E-6ABD-2C72E142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101FCCD-06CA-3122-1B55-DE996F1BA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089ED86-3C45-388D-15A3-07078070C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7217FA1-53AA-22A6-17A3-0AA4857EC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F7AD3E8-B321-FF2E-5040-1FDB95801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F02D6B7-0BB2-FFC9-146C-02FAB758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0EA-7206-474F-84A4-96541A84011C}" type="datetime1">
              <a:rPr lang="pt-PT" smtClean="0"/>
              <a:t>13/02/2025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A43AC8D-5D10-770A-7407-7BDC41A2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70F8069-D205-8FCE-D0BC-7CE3807A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050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1AECC-93A2-16B7-B97E-05BBA273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C506934-C73B-D3C9-E88B-CC8EF5D8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48A0-BD77-4DD4-962D-60AB2975A8C8}" type="datetime1">
              <a:rPr lang="pt-PT" smtClean="0"/>
              <a:t>13/02/2025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CF39701-1C06-0855-E149-D72BC9EC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6E051D9-7734-E503-5F0D-63BFAA9D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58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AB47C4D-58A0-3369-8048-FBC7FB43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706A2-FC78-4574-A489-33C07638AC1B}" type="datetime1">
              <a:rPr lang="pt-PT" smtClean="0"/>
              <a:t>13/02/2025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196F695-2EE5-F249-C149-1E181D2A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9ED4E95-5C8F-05EA-9087-ECF77A25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942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CDB43-86D3-D8AD-3118-3778D816D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CA28F00-A0ED-1747-FA74-397788D74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5A2DA7F-BC2E-1AE9-FF98-0B501C557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903E881-C7FA-B63D-63DD-2F917ACCB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32DB-8169-47FC-9F59-53E28D95A949}" type="datetime1">
              <a:rPr lang="pt-PT" smtClean="0"/>
              <a:t>13/02/2025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A119108-D5EF-4013-8C0E-5329721F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C320CEE-FB44-36EA-AB0C-A24A124E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659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596BF-EED3-3B86-4D49-39E3D338D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66244327-E650-C5AA-8DC5-7A184D617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3AE2AA0-5F18-C9F2-6C0E-D09F217EF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7325291-E6E1-5F54-C2EA-5E637F22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D406-C54B-421A-A2F8-090FC43EF2AE}" type="datetime1">
              <a:rPr lang="pt-PT" smtClean="0"/>
              <a:t>13/02/2025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C9854F9-58E5-3E4C-BBAB-62D1797B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8BA18AA-5FFF-AE37-F926-7ED7F877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1013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0A58-46CE-6AD0-5D46-897D8534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A04A916-BABA-F19E-850A-686E0161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A1213C-90E6-3349-BE60-0998610C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41D1-DF83-468E-9CD2-BA2788A5EF85}" type="datetime1">
              <a:rPr lang="pt-PT" smtClean="0"/>
              <a:t>13/02/2025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BB172F0-3B26-6643-0121-D716B2E0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9F6333D-7A39-E69E-905F-7F648361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031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C6D164-9C70-EC0A-FEEB-DF38FAC37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162BD6F-1A8F-47D5-3ECF-8A0A2CFAE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262ED9-59A4-7F67-6A4C-8976FFC2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F8B-9830-41F8-B9EB-EA3AA3AB2F72}" type="datetime1">
              <a:rPr lang="pt-PT" smtClean="0"/>
              <a:t>13/02/2025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EAED873-0A34-7E01-8B01-5A4C945D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8676849-F189-0B09-BCC4-9D4737AC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735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C025AC4-0A1D-6505-B7F5-86C41CA9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F4BBFC4-F6A1-9CFC-6D53-C3A1E248C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7201237-130F-7A32-FF1E-27273F608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773E5-638C-4DE8-8FDD-1C341720DE92}" type="datetime1">
              <a:rPr lang="pt-PT" smtClean="0"/>
              <a:t>13/02/2025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8F0FCD3-8D49-5542-F2D3-0273D070D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1A10BA8-76E8-ADB0-4FCA-5DC75D26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1892-14CA-41B8-AEAF-531670AA168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24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2ABCF-4CB0-512E-28BF-C3C4D161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91" y="796254"/>
            <a:ext cx="10799163" cy="124418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 de Complemento de Licenciatura em  Enfermagem</a:t>
            </a:r>
            <a:b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Unidade curricular</a:t>
            </a:r>
            <a:r>
              <a:rPr lang="pt-BR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DengXian" panose="020B0503020204020204" pitchFamily="2" charset="-122"/>
                <a:cs typeface="Arial" panose="020B0604020202020204" pitchFamily="34" charset="0"/>
              </a:rPr>
              <a:t> </a:t>
            </a:r>
            <a:r>
              <a:rPr lang="pt-BR" sz="31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DengXian" panose="020B0503020204020204" pitchFamily="2" charset="-122"/>
                <a:cs typeface="Arial" panose="020B0604020202020204" pitchFamily="34" charset="0"/>
              </a:rPr>
              <a:t>:</a:t>
            </a: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Investigação em Enfermagem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05AA62B-0B09-386B-E516-F80AF62B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t-PT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C876F5F9-D5A3-62B4-3EA9-E01522EC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91"/>
            <a:ext cx="10515600" cy="4427980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pt-PT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 de álcool por estudantes universitários durante a pandemia da COVID-19</a:t>
            </a:r>
          </a:p>
          <a:p>
            <a:pPr marL="0" indent="0" algn="ctr">
              <a:buNone/>
            </a:pPr>
            <a:endParaRPr lang="pt-P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Rosalina Espirito Santo</a:t>
            </a:r>
          </a:p>
          <a:p>
            <a:pPr marL="0" indent="0" algn="ctr">
              <a:buNone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Docente </a:t>
            </a:r>
            <a:r>
              <a:rPr lang="pt-BR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DengXian" panose="020B0503020204020204" pitchFamily="2" charset="-122"/>
                <a:cs typeface="Arial" panose="020B0604020202020204" pitchFamily="34" charset="0"/>
              </a:rPr>
              <a:t>:</a:t>
            </a: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Miclay Carvalho</a:t>
            </a:r>
          </a:p>
          <a:p>
            <a:pPr marL="0" indent="0" algn="ctr">
              <a:buNone/>
            </a:pPr>
            <a:endParaRPr lang="pt-P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Fevereiro de 2025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75CFA2DA-C75D-D1CA-C81A-A03DF22DF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27927" cy="86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C7EA3-2064-4650-85A3-31E9E0262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8BB21-2098-C488-4805-F0E5B2B2F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4543425" cy="934092"/>
          </a:xfrm>
        </p:spPr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3A70C1C-4C4A-2ACB-8469-D66C86798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43000"/>
            <a:ext cx="11477625" cy="521335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pandemia de COVID-19 impactou o consumo de álcool entre universitários, influenciado pelo isolamento social e por factores emocionais.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estudo analisa padrões de consumo durante esse período e seus possíveis impactos na saúde e no desempenho académico.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resultados destacam a necessidade de políticas preventivas e de apoio à saúde mental nas universidades.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3C2132C-534E-1EBD-B955-87E2CD3D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2</a:t>
            </a:fld>
            <a:endParaRPr lang="pt-P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792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2B4B1-BFD7-85C6-6870-EF10A93CC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4543425" cy="934092"/>
          </a:xfrm>
        </p:spPr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1.1. </a:t>
            </a:r>
            <a:r>
              <a:rPr lang="pt-PT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AD56273-FE04-9826-A1B3-6261C91F9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43000"/>
            <a:ext cx="11477625" cy="521335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presente estudo tem como propósitos: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Verificar o consumo de álcool entre estudantes universitários de duas universidades federais (UFPI e UFRA) durante a pandemia de COVID-19.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Alertar para a importância de programas de prevenção e intervenção relacionados ao abuso de álcool nas universidades.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6D5DD5-29B9-17EB-A4E1-C62BCFA2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3</a:t>
            </a:fld>
            <a:endParaRPr lang="pt-P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43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A92CB-7B95-8C90-A554-655B31F95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7BECA-92DE-C0D0-4496-9749E089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4543425" cy="934092"/>
          </a:xfrm>
        </p:spPr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2.Metodologia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7B9FB88-0414-0F73-30ED-FBC4FEFF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43000"/>
            <a:ext cx="11477625" cy="521335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público-alvo foi composto por 303 estudantes dos  de Medicina, Odontologia, Nutrição, Agronomia, Educação Física e Ciências Biológicas da  Universidade Federal do Piauí (UFPI) e  dos estudantes dos cursos de e Agronomia, Administração, Engenharia Florestal e Zootecnia da Universidade Federal Rural da </a:t>
            </a:r>
            <a:r>
              <a:rPr lang="pt-PT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Amazônia</a:t>
            </a: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(UFRA)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Recolha dos dados: Questionário </a:t>
            </a:r>
            <a:r>
              <a:rPr lang="pt-PT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via Google Formulários, no período compreendido entre os meses de Maio a Outubro de 2021.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Análise: Estatísticas descritivas (percentuais, médias, desvios padrão) com um nível de significância de p&lt;0,5.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3D626CC-D035-4082-3FA7-95ABFFFF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4</a:t>
            </a:fld>
            <a:endParaRPr lang="pt-P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23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CDE0-E573-B94B-6D4F-3DD2F84FB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46AE4-2D28-AE27-78CF-787B1AC9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2D1A255-A6CA-C01F-65CA-E08DC254B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43000"/>
            <a:ext cx="11477625" cy="521335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 dos Participantes: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de 303 estudantes (55% feminino, 45% masculino).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média: 22,56 anos (Desvio Padrão de ± 4,30).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88% dos estudantes residiram com familiares durante a pandemia.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5733C3D-8E5A-5E13-CADD-79E41F51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5</a:t>
            </a:fld>
            <a:endParaRPr lang="pt-P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79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B3B5A-00D7-B8C4-A589-74A9D07A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419BE-4F81-0539-3CF5-F1FC4E2E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7D39325-40A2-BDC4-D5B9-750A9ABA0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6" y="1143000"/>
            <a:ext cx="11255374" cy="13415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 de Álcool Antes da Pandemia: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58C7201-E624-AEC9-A688-69FD3A82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6</a:t>
            </a:fld>
            <a:endParaRPr lang="pt-PT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3F660A-94AC-E0F7-9B6C-7A9D39D8C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698" y="3035084"/>
            <a:ext cx="4904102" cy="3541552"/>
          </a:xfrm>
          <a:prstGeom prst="rect">
            <a:avLst/>
          </a:prstGeom>
        </p:spPr>
      </p:pic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ABAC10D7-12AA-7EFA-9D04-7A022D029536}"/>
              </a:ext>
            </a:extLst>
          </p:cNvPr>
          <p:cNvSpPr txBox="1">
            <a:spLocks/>
          </p:cNvSpPr>
          <p:nvPr/>
        </p:nvSpPr>
        <p:spPr>
          <a:xfrm>
            <a:off x="428626" y="2360403"/>
            <a:ext cx="7025526" cy="3992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53% dos estudantes já consumiam álcool antes da pandemia.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47% não consumiram. </a:t>
            </a:r>
          </a:p>
        </p:txBody>
      </p:sp>
    </p:spTree>
    <p:extLst>
      <p:ext uri="{BB962C8B-B14F-4D97-AF65-F5344CB8AC3E}">
        <p14:creationId xmlns:p14="http://schemas.microsoft.com/office/powerpoint/2010/main" val="197504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76148-385C-14CB-6044-046F2900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1820F-B1DC-6C89-65DD-8195AB30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5DF7B15-CA91-BF2F-F119-378BA9888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6" y="1143000"/>
            <a:ext cx="11255374" cy="13415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 de Álcool Durante a Pandemia: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E719F16-E898-92EF-DCC1-D170CDE7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7</a:t>
            </a:fld>
            <a:endParaRPr lang="pt-PT">
              <a:solidFill>
                <a:schemeClr val="bg1"/>
              </a:solidFill>
            </a:endParaRPr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A80E43FB-B002-54B1-93BA-DFD2B614FF08}"/>
              </a:ext>
            </a:extLst>
          </p:cNvPr>
          <p:cNvSpPr txBox="1">
            <a:spLocks/>
          </p:cNvSpPr>
          <p:nvPr/>
        </p:nvSpPr>
        <p:spPr>
          <a:xfrm>
            <a:off x="428626" y="2360403"/>
            <a:ext cx="6021072" cy="39924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48% dos estudantes consumiam álcool uma vez por semana.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consumiram de duas a três vezes por semana.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778975-426D-CF7D-DD5F-041062A7E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763" y="2230750"/>
            <a:ext cx="5386551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6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E196D-9261-431F-270F-53C104F9D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1F4CD-6FCA-F4AF-2EAE-1D9C36E69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25C68F1-678D-4FAA-B75F-CFF8F154D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6" y="1143000"/>
            <a:ext cx="7025526" cy="3992418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de Início do Consumo de Álcool: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8% conseguiram antes dos 14 anos.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27% entre 15-16 anos.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14% aos 17 anos.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9BA149B-C6A0-0452-0D28-19132E8A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8</a:t>
            </a:fld>
            <a:endParaRPr lang="pt-PT">
              <a:solidFill>
                <a:schemeClr val="bg1"/>
              </a:solidFill>
            </a:endParaRPr>
          </a:p>
        </p:txBody>
      </p:sp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4A5F6DED-81EC-449A-7CE0-A15D467B72FE}"/>
              </a:ext>
            </a:extLst>
          </p:cNvPr>
          <p:cNvSpPr txBox="1">
            <a:spLocks/>
          </p:cNvSpPr>
          <p:nvPr/>
        </p:nvSpPr>
        <p:spPr>
          <a:xfrm>
            <a:off x="375517" y="5200072"/>
            <a:ext cx="11493209" cy="1308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49% conseguiram antes da idade legal para consumo de álcool.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6787BE7-92D0-290D-C50A-51995C407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655" y="1372518"/>
            <a:ext cx="4913176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5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86312-BA63-C2F0-2360-DF07ECEA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2B63D-3007-2B36-E595-19EF2985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F86E9A-6C7A-70C1-269B-40EAFA720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95" y="3391727"/>
            <a:ext cx="5861338" cy="277329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 afirmaram que não houve impacto.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6A94090-9147-E992-4089-0C3EA4D2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9</a:t>
            </a:fld>
            <a:endParaRPr lang="pt-PT">
              <a:solidFill>
                <a:schemeClr val="bg1"/>
              </a:solidFill>
            </a:endParaRPr>
          </a:p>
        </p:txBody>
      </p:sp>
      <p:sp>
        <p:nvSpPr>
          <p:cNvPr id="7" name="Marcador de Posição de Conteúdo 2">
            <a:extLst>
              <a:ext uri="{FF2B5EF4-FFF2-40B4-BE49-F238E27FC236}">
                <a16:creationId xmlns:a16="http://schemas.microsoft.com/office/drawing/2014/main" id="{74BF2B32-2634-9B05-A5C6-3ECAB4DACAC0}"/>
              </a:ext>
            </a:extLst>
          </p:cNvPr>
          <p:cNvSpPr txBox="1">
            <a:spLocks/>
          </p:cNvSpPr>
          <p:nvPr/>
        </p:nvSpPr>
        <p:spPr>
          <a:xfrm>
            <a:off x="349395" y="1224446"/>
            <a:ext cx="11493209" cy="18235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Aft>
                <a:spcPts val="1200"/>
              </a:spcAft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 no Desempenho Académico: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5% afirmaram queda no desempenho académico devido ao consumo de álcool.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2B89C33-4C09-256A-088F-95CFE44FC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756" y="2625292"/>
            <a:ext cx="4321848" cy="391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02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E1CE8-D520-2DC7-D706-6B55024D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16738-96C6-D5C1-3CA2-BBA98B63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C3DDF3D-1BC3-4343-B3F2-00BA7741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43000"/>
            <a:ext cx="11033701" cy="39924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Comportamento Social Durante o Consumo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39% consomem álcool com amigos.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38% não consomem álcool.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4DD0FA-9074-E57E-FE4C-A5CEF873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10</a:t>
            </a:fld>
            <a:endParaRPr lang="pt-PT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F9D555C-A7BF-F337-BF68-25D43D7F1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264" y="3418410"/>
            <a:ext cx="7689472" cy="343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0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1754E-B059-9232-D6A9-2C7AB78C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FE961-8E96-6735-4661-935D26427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8DB6B57-E461-7ECF-140F-3FC3B9DB5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4" y="1142999"/>
            <a:ext cx="5925993" cy="497147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de Consumo: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34% consomem em casa.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12% consomem em bares.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39% não consomem álcool.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99522CE-15F2-DCFF-AE66-CFECFE44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11</a:t>
            </a:fld>
            <a:endParaRPr lang="pt-PT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FA26EF-0472-056C-8B3B-26AD522D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34% consomem em casa.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12% consomem em bares.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39% não consomem álcool.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21DEB2-1E81-7531-0925-84BFD8034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34% consomem em casa.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12% consomem em bares.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39% não consomem álcool.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8743C21-6588-E2CE-5CA1-48E8C9B9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68162"/>
            <a:ext cx="6096000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4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00612-4AFA-EA38-2643-2836F8E7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FA5C1-2449-697D-E04A-5B353B12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 fontScale="90000"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 e Discussões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D89F2D1-40A4-C60D-3537-6320E91C8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6" y="1143000"/>
            <a:ext cx="11255374" cy="206201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Consciência sobre os Malefícios do Álcool: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81% reconhecem que o consumo de álcool é prejudicial à saúde.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77F123E-4CB0-3C0E-23BF-749350A9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12</a:t>
            </a:fld>
            <a:endParaRPr lang="pt-PT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823A95-B785-4F68-4A53-F93F69509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883" y="2803809"/>
            <a:ext cx="6291372" cy="39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3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ED4FB-D822-4E1F-4071-6AC01400D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8E4EE-508E-DB35-D38A-CCF5DF1E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0"/>
            <a:ext cx="5022850" cy="934092"/>
          </a:xfrm>
        </p:spPr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Considerações Finais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7A9164-D070-82E3-0B7C-4EC6F523E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6" y="1142999"/>
            <a:ext cx="11255374" cy="55784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base nos resultados encontrados, chega-se a perceber que: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significativo no consumo de álcool durante a pandemia, possivelmente devido ao estresse e à solidão.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pt-PT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Necessidade de programas de apoio emocional e prevenção do abuso de álcool nas universidades.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9CD1CB5-886F-1BBC-2DA6-D4C48EB6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13</a:t>
            </a:fld>
            <a:endParaRPr lang="pt-P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73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E6DD9-2107-F124-5853-FFC7EB900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5.Referência Bibliografia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53E7427-98B2-860F-A6EF-C7BA2C47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4501"/>
            <a:ext cx="10515600" cy="24378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Souza </a:t>
            </a:r>
            <a:r>
              <a:rPr lang="pt-P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Zierer</a:t>
            </a:r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M., de Albuquerque, LP, de Moura Sérvulo, KBL, &amp; da Silva, AF (2022). Consumo de álcool por estudantes universitários durante a pandemia da COVID-19. Pesquisa, Sociedade e Desenvolvimento , 11 (14), e597111436501-e597111436501.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436D619-7375-D67A-4DAB-B40C5771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892-14CA-41B8-AEAF-531670AA1681}" type="slidenum">
              <a:rPr lang="pt-PT" smtClean="0">
                <a:solidFill>
                  <a:schemeClr val="bg1"/>
                </a:solidFill>
              </a:rPr>
              <a:t>14</a:t>
            </a:fld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046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</TotalTime>
  <Words>658</Words>
  <Application>Microsoft Office PowerPoint</Application>
  <PresentationFormat>Ecrã Panorâmico</PresentationFormat>
  <Paragraphs>89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Tema do Office</vt:lpstr>
      <vt:lpstr>Curso de Complemento de Licenciatura em  Enfermagem Unidade curricular : Investigação em Enfermagem</vt:lpstr>
      <vt:lpstr>1. Introdução</vt:lpstr>
      <vt:lpstr>1.1. Objetivo</vt:lpstr>
      <vt:lpstr>2.Metodologia</vt:lpstr>
      <vt:lpstr>2. Resultados e Discussões</vt:lpstr>
      <vt:lpstr>2. Resultados e Discussões</vt:lpstr>
      <vt:lpstr>2. Resultados e Discussões</vt:lpstr>
      <vt:lpstr>2. Resultados e Discussões</vt:lpstr>
      <vt:lpstr>2. Resultados e Discussões</vt:lpstr>
      <vt:lpstr>2. Resultados e Discussões</vt:lpstr>
      <vt:lpstr>2. Resultados e Discussões</vt:lpstr>
      <vt:lpstr>2. Resultados e Discussões</vt:lpstr>
      <vt:lpstr>3. Considerações Finais</vt:lpstr>
      <vt:lpstr>5.Referência Bibliografia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- Rosalina</dc:title>
  <dc:creator>Wadiley Nascimento</dc:creator>
  <cp:lastModifiedBy>Wadiley Nascimento</cp:lastModifiedBy>
  <cp:revision>11</cp:revision>
  <dcterms:created xsi:type="dcterms:W3CDTF">2024-12-28T17:17:16Z</dcterms:created>
  <dcterms:modified xsi:type="dcterms:W3CDTF">2025-02-13T08:25:48Z</dcterms:modified>
</cp:coreProperties>
</file>