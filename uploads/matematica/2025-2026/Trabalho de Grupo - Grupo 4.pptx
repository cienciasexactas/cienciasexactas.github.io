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2" r:id="rId4"/>
    <p:sldId id="259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A2DA68-A6A8-4B13-86AC-172DF97CF638}" v="40" dt="2026-01-26T16:53:08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65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diley Nascimento" userId="5d58ae08-dc5d-4437-850c-ecd02000f071" providerId="ADAL" clId="{93161489-649E-4615-A3C8-73C8FC27451F}"/>
    <pc:docChg chg="undo custSel addSld delSld modSld sldOrd">
      <pc:chgData name="Wadiley Nascimento" userId="5d58ae08-dc5d-4437-850c-ecd02000f071" providerId="ADAL" clId="{93161489-649E-4615-A3C8-73C8FC27451F}" dt="2026-01-26T16:54:01.968" v="333" actId="20577"/>
      <pc:docMkLst>
        <pc:docMk/>
      </pc:docMkLst>
      <pc:sldChg chg="modSp mod">
        <pc:chgData name="Wadiley Nascimento" userId="5d58ae08-dc5d-4437-850c-ecd02000f071" providerId="ADAL" clId="{93161489-649E-4615-A3C8-73C8FC27451F}" dt="2026-01-26T16:54:01.968" v="333" actId="20577"/>
        <pc:sldMkLst>
          <pc:docMk/>
          <pc:sldMk cId="2265874867" sldId="256"/>
        </pc:sldMkLst>
        <pc:spChg chg="mod">
          <ac:chgData name="Wadiley Nascimento" userId="5d58ae08-dc5d-4437-850c-ecd02000f071" providerId="ADAL" clId="{93161489-649E-4615-A3C8-73C8FC27451F}" dt="2026-01-26T16:54:01.968" v="333" actId="20577"/>
          <ac:spMkLst>
            <pc:docMk/>
            <pc:sldMk cId="2265874867" sldId="256"/>
            <ac:spMk id="3" creationId="{00000000-0000-0000-0000-000000000000}"/>
          </ac:spMkLst>
        </pc:spChg>
      </pc:sldChg>
      <pc:sldChg chg="modSp mod">
        <pc:chgData name="Wadiley Nascimento" userId="5d58ae08-dc5d-4437-850c-ecd02000f071" providerId="ADAL" clId="{93161489-649E-4615-A3C8-73C8FC27451F}" dt="2026-01-26T16:11:15.995" v="23" actId="114"/>
        <pc:sldMkLst>
          <pc:docMk/>
          <pc:sldMk cId="3337945255" sldId="257"/>
        </pc:sldMkLst>
        <pc:spChg chg="mod">
          <ac:chgData name="Wadiley Nascimento" userId="5d58ae08-dc5d-4437-850c-ecd02000f071" providerId="ADAL" clId="{93161489-649E-4615-A3C8-73C8FC27451F}" dt="2026-01-26T16:11:15.995" v="23" actId="114"/>
          <ac:spMkLst>
            <pc:docMk/>
            <pc:sldMk cId="3337945255" sldId="257"/>
            <ac:spMk id="2" creationId="{00000000-0000-0000-0000-000000000000}"/>
          </ac:spMkLst>
        </pc:spChg>
        <pc:picChg chg="mod">
          <ac:chgData name="Wadiley Nascimento" userId="5d58ae08-dc5d-4437-850c-ecd02000f071" providerId="ADAL" clId="{93161489-649E-4615-A3C8-73C8FC27451F}" dt="2026-01-26T16:11:11.896" v="22" actId="1076"/>
          <ac:picMkLst>
            <pc:docMk/>
            <pc:sldMk cId="3337945255" sldId="257"/>
            <ac:picMk id="4" creationId="{00000000-0000-0000-0000-000000000000}"/>
          </ac:picMkLst>
        </pc:picChg>
      </pc:sldChg>
      <pc:sldChg chg="addSp delSp modSp mod ord">
        <pc:chgData name="Wadiley Nascimento" userId="5d58ae08-dc5d-4437-850c-ecd02000f071" providerId="ADAL" clId="{93161489-649E-4615-A3C8-73C8FC27451F}" dt="2026-01-26T16:48:19.745" v="276" actId="20577"/>
        <pc:sldMkLst>
          <pc:docMk/>
          <pc:sldMk cId="1035754666" sldId="259"/>
        </pc:sldMkLst>
        <pc:spChg chg="add mod">
          <ac:chgData name="Wadiley Nascimento" userId="5d58ae08-dc5d-4437-850c-ecd02000f071" providerId="ADAL" clId="{93161489-649E-4615-A3C8-73C8FC27451F}" dt="2026-01-26T16:22:49.652" v="34" actId="113"/>
          <ac:spMkLst>
            <pc:docMk/>
            <pc:sldMk cId="1035754666" sldId="259"/>
            <ac:spMk id="2" creationId="{47B27253-3599-AAC1-3C86-E5A596768C37}"/>
          </ac:spMkLst>
        </pc:spChg>
        <pc:spChg chg="add mod">
          <ac:chgData name="Wadiley Nascimento" userId="5d58ae08-dc5d-4437-850c-ecd02000f071" providerId="ADAL" clId="{93161489-649E-4615-A3C8-73C8FC27451F}" dt="2026-01-26T16:48:19.745" v="276" actId="20577"/>
          <ac:spMkLst>
            <pc:docMk/>
            <pc:sldMk cId="1035754666" sldId="259"/>
            <ac:spMk id="3" creationId="{63F38FAA-8347-F92D-86EF-91F92A8833F5}"/>
          </ac:spMkLst>
        </pc:spChg>
        <pc:picChg chg="del mod">
          <ac:chgData name="Wadiley Nascimento" userId="5d58ae08-dc5d-4437-850c-ecd02000f071" providerId="ADAL" clId="{93161489-649E-4615-A3C8-73C8FC27451F}" dt="2026-01-26T16:23:27.580" v="39" actId="478"/>
          <ac:picMkLst>
            <pc:docMk/>
            <pc:sldMk cId="1035754666" sldId="259"/>
            <ac:picMk id="4" creationId="{00000000-0000-0000-0000-000000000000}"/>
          </ac:picMkLst>
        </pc:picChg>
        <pc:picChg chg="del">
          <ac:chgData name="Wadiley Nascimento" userId="5d58ae08-dc5d-4437-850c-ecd02000f071" providerId="ADAL" clId="{93161489-649E-4615-A3C8-73C8FC27451F}" dt="2026-01-26T16:23:28.370" v="40" actId="478"/>
          <ac:picMkLst>
            <pc:docMk/>
            <pc:sldMk cId="1035754666" sldId="259"/>
            <ac:picMk id="5" creationId="{00000000-0000-0000-0000-000000000000}"/>
          </ac:picMkLst>
        </pc:picChg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2151903833" sldId="260"/>
        </pc:sldMkLst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1746100318" sldId="261"/>
        </pc:sldMkLst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2215112862" sldId="262"/>
        </pc:sldMkLst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3548590427" sldId="263"/>
        </pc:sldMkLst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3493297071" sldId="264"/>
        </pc:sldMkLst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218646792" sldId="265"/>
        </pc:sldMkLst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2523688133" sldId="267"/>
        </pc:sldMkLst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720873275" sldId="268"/>
        </pc:sldMkLst>
      </pc:sldChg>
      <pc:sldChg chg="del">
        <pc:chgData name="Wadiley Nascimento" userId="5d58ae08-dc5d-4437-850c-ecd02000f071" providerId="ADAL" clId="{93161489-649E-4615-A3C8-73C8FC27451F}" dt="2026-01-26T16:42:25.482" v="192" actId="47"/>
        <pc:sldMkLst>
          <pc:docMk/>
          <pc:sldMk cId="2381044945" sldId="269"/>
        </pc:sldMkLst>
      </pc:sldChg>
      <pc:sldChg chg="del">
        <pc:chgData name="Wadiley Nascimento" userId="5d58ae08-dc5d-4437-850c-ecd02000f071" providerId="ADAL" clId="{93161489-649E-4615-A3C8-73C8FC27451F}" dt="2026-01-26T16:43:47.859" v="223" actId="47"/>
        <pc:sldMkLst>
          <pc:docMk/>
          <pc:sldMk cId="3504083291" sldId="270"/>
        </pc:sldMkLst>
      </pc:sldChg>
      <pc:sldChg chg="add del">
        <pc:chgData name="Wadiley Nascimento" userId="5d58ae08-dc5d-4437-850c-ecd02000f071" providerId="ADAL" clId="{93161489-649E-4615-A3C8-73C8FC27451F}" dt="2026-01-26T16:30:39.534" v="97" actId="47"/>
        <pc:sldMkLst>
          <pc:docMk/>
          <pc:sldMk cId="514911485" sldId="271"/>
        </pc:sldMkLst>
      </pc:sldChg>
      <pc:sldChg chg="modSp add mod">
        <pc:chgData name="Wadiley Nascimento" userId="5d58ae08-dc5d-4437-850c-ecd02000f071" providerId="ADAL" clId="{93161489-649E-4615-A3C8-73C8FC27451F}" dt="2026-01-26T16:49:31.590" v="280" actId="948"/>
        <pc:sldMkLst>
          <pc:docMk/>
          <pc:sldMk cId="2119020992" sldId="272"/>
        </pc:sldMkLst>
        <pc:spChg chg="mod">
          <ac:chgData name="Wadiley Nascimento" userId="5d58ae08-dc5d-4437-850c-ecd02000f071" providerId="ADAL" clId="{93161489-649E-4615-A3C8-73C8FC27451F}" dt="2026-01-26T16:49:31.590" v="280" actId="948"/>
          <ac:spMkLst>
            <pc:docMk/>
            <pc:sldMk cId="2119020992" sldId="272"/>
            <ac:spMk id="3" creationId="{24348E87-3099-F241-81EF-40CABDA22DBE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30:22.486" v="96" actId="113"/>
        <pc:sldMkLst>
          <pc:docMk/>
          <pc:sldMk cId="2585277251" sldId="273"/>
        </pc:sldMkLst>
        <pc:spChg chg="mod">
          <ac:chgData name="Wadiley Nascimento" userId="5d58ae08-dc5d-4437-850c-ecd02000f071" providerId="ADAL" clId="{93161489-649E-4615-A3C8-73C8FC27451F}" dt="2026-01-26T16:30:22.486" v="96" actId="113"/>
          <ac:spMkLst>
            <pc:docMk/>
            <pc:sldMk cId="2585277251" sldId="273"/>
            <ac:spMk id="3" creationId="{6D4AF148-A6B5-D64B-041E-8CC1503A6A1C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33:35.512" v="124" actId="948"/>
        <pc:sldMkLst>
          <pc:docMk/>
          <pc:sldMk cId="1415781898" sldId="274"/>
        </pc:sldMkLst>
        <pc:spChg chg="mod">
          <ac:chgData name="Wadiley Nascimento" userId="5d58ae08-dc5d-4437-850c-ecd02000f071" providerId="ADAL" clId="{93161489-649E-4615-A3C8-73C8FC27451F}" dt="2026-01-26T16:31:33.505" v="107" actId="14100"/>
          <ac:spMkLst>
            <pc:docMk/>
            <pc:sldMk cId="1415781898" sldId="274"/>
            <ac:spMk id="2" creationId="{E87B42F6-FB98-FE5B-9AE4-C7946970856B}"/>
          </ac:spMkLst>
        </pc:spChg>
        <pc:spChg chg="mod">
          <ac:chgData name="Wadiley Nascimento" userId="5d58ae08-dc5d-4437-850c-ecd02000f071" providerId="ADAL" clId="{93161489-649E-4615-A3C8-73C8FC27451F}" dt="2026-01-26T16:33:35.512" v="124" actId="948"/>
          <ac:spMkLst>
            <pc:docMk/>
            <pc:sldMk cId="1415781898" sldId="274"/>
            <ac:spMk id="3" creationId="{0929EA06-B547-9D1C-5646-5B531D4D4B1E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33:12.218" v="122" actId="115"/>
        <pc:sldMkLst>
          <pc:docMk/>
          <pc:sldMk cId="3212075319" sldId="275"/>
        </pc:sldMkLst>
        <pc:spChg chg="mod">
          <ac:chgData name="Wadiley Nascimento" userId="5d58ae08-dc5d-4437-850c-ecd02000f071" providerId="ADAL" clId="{93161489-649E-4615-A3C8-73C8FC27451F}" dt="2026-01-26T16:33:12.218" v="122" actId="115"/>
          <ac:spMkLst>
            <pc:docMk/>
            <pc:sldMk cId="3212075319" sldId="275"/>
            <ac:spMk id="3" creationId="{16977614-A140-E060-07F5-2057E9E31772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32:53.194" v="120"/>
        <pc:sldMkLst>
          <pc:docMk/>
          <pc:sldMk cId="1495655093" sldId="276"/>
        </pc:sldMkLst>
        <pc:spChg chg="mod">
          <ac:chgData name="Wadiley Nascimento" userId="5d58ae08-dc5d-4437-850c-ecd02000f071" providerId="ADAL" clId="{93161489-649E-4615-A3C8-73C8FC27451F}" dt="2026-01-26T16:32:53.194" v="120"/>
          <ac:spMkLst>
            <pc:docMk/>
            <pc:sldMk cId="1495655093" sldId="276"/>
            <ac:spMk id="3" creationId="{E543BCCE-F99F-8A76-D6FA-FD8049C86525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36:10.024" v="144" actId="113"/>
        <pc:sldMkLst>
          <pc:docMk/>
          <pc:sldMk cId="1146578051" sldId="277"/>
        </pc:sldMkLst>
        <pc:spChg chg="mod">
          <ac:chgData name="Wadiley Nascimento" userId="5d58ae08-dc5d-4437-850c-ecd02000f071" providerId="ADAL" clId="{93161489-649E-4615-A3C8-73C8FC27451F}" dt="2026-01-26T16:35:01.802" v="133" actId="20577"/>
          <ac:spMkLst>
            <pc:docMk/>
            <pc:sldMk cId="1146578051" sldId="277"/>
            <ac:spMk id="2" creationId="{96F23C0C-BB57-EF87-1FC9-2795318CC0E2}"/>
          </ac:spMkLst>
        </pc:spChg>
        <pc:spChg chg="mod">
          <ac:chgData name="Wadiley Nascimento" userId="5d58ae08-dc5d-4437-850c-ecd02000f071" providerId="ADAL" clId="{93161489-649E-4615-A3C8-73C8FC27451F}" dt="2026-01-26T16:36:10.024" v="144" actId="113"/>
          <ac:spMkLst>
            <pc:docMk/>
            <pc:sldMk cId="1146578051" sldId="277"/>
            <ac:spMk id="3" creationId="{0F4AA00E-2783-24EF-163E-AD49CA94AAD1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35:48.707" v="141" actId="113"/>
        <pc:sldMkLst>
          <pc:docMk/>
          <pc:sldMk cId="905869066" sldId="278"/>
        </pc:sldMkLst>
        <pc:spChg chg="mod">
          <ac:chgData name="Wadiley Nascimento" userId="5d58ae08-dc5d-4437-850c-ecd02000f071" providerId="ADAL" clId="{93161489-649E-4615-A3C8-73C8FC27451F}" dt="2026-01-26T16:35:48.707" v="141" actId="113"/>
          <ac:spMkLst>
            <pc:docMk/>
            <pc:sldMk cId="905869066" sldId="278"/>
            <ac:spMk id="3" creationId="{E437E359-6A05-D98A-8F5C-DC455710BEA8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45:52.831" v="232" actId="948"/>
        <pc:sldMkLst>
          <pc:docMk/>
          <pc:sldMk cId="2289079307" sldId="279"/>
        </pc:sldMkLst>
        <pc:spChg chg="mod">
          <ac:chgData name="Wadiley Nascimento" userId="5d58ae08-dc5d-4437-850c-ecd02000f071" providerId="ADAL" clId="{93161489-649E-4615-A3C8-73C8FC27451F}" dt="2026-01-26T16:37:24.212" v="155" actId="20577"/>
          <ac:spMkLst>
            <pc:docMk/>
            <pc:sldMk cId="2289079307" sldId="279"/>
            <ac:spMk id="2" creationId="{EC419F01-0624-80F9-0CB5-AE271D6F5F1D}"/>
          </ac:spMkLst>
        </pc:spChg>
        <pc:spChg chg="mod">
          <ac:chgData name="Wadiley Nascimento" userId="5d58ae08-dc5d-4437-850c-ecd02000f071" providerId="ADAL" clId="{93161489-649E-4615-A3C8-73C8FC27451F}" dt="2026-01-26T16:45:52.831" v="232" actId="948"/>
          <ac:spMkLst>
            <pc:docMk/>
            <pc:sldMk cId="2289079307" sldId="279"/>
            <ac:spMk id="3" creationId="{3F64F639-144E-6C9B-2A0E-63CA02EF81E9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39:34.920" v="172" actId="20577"/>
        <pc:sldMkLst>
          <pc:docMk/>
          <pc:sldMk cId="1791282364" sldId="280"/>
        </pc:sldMkLst>
        <pc:spChg chg="mod">
          <ac:chgData name="Wadiley Nascimento" userId="5d58ae08-dc5d-4437-850c-ecd02000f071" providerId="ADAL" clId="{93161489-649E-4615-A3C8-73C8FC27451F}" dt="2026-01-26T16:39:20.176" v="168" actId="20577"/>
          <ac:spMkLst>
            <pc:docMk/>
            <pc:sldMk cId="1791282364" sldId="280"/>
            <ac:spMk id="2" creationId="{B22BDE7C-5C00-2791-7214-B16ADCFF1F2D}"/>
          </ac:spMkLst>
        </pc:spChg>
        <pc:spChg chg="mod">
          <ac:chgData name="Wadiley Nascimento" userId="5d58ae08-dc5d-4437-850c-ecd02000f071" providerId="ADAL" clId="{93161489-649E-4615-A3C8-73C8FC27451F}" dt="2026-01-26T16:39:34.920" v="172" actId="20577"/>
          <ac:spMkLst>
            <pc:docMk/>
            <pc:sldMk cId="1791282364" sldId="280"/>
            <ac:spMk id="3" creationId="{E539432E-08BF-29C2-3971-A00CA1497948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42:10.876" v="191" actId="948"/>
        <pc:sldMkLst>
          <pc:docMk/>
          <pc:sldMk cId="3805197121" sldId="281"/>
        </pc:sldMkLst>
        <pc:spChg chg="mod">
          <ac:chgData name="Wadiley Nascimento" userId="5d58ae08-dc5d-4437-850c-ecd02000f071" providerId="ADAL" clId="{93161489-649E-4615-A3C8-73C8FC27451F}" dt="2026-01-26T16:41:53.652" v="187" actId="6549"/>
          <ac:spMkLst>
            <pc:docMk/>
            <pc:sldMk cId="3805197121" sldId="281"/>
            <ac:spMk id="2" creationId="{12CFF710-56FC-9DCC-482F-B6B157AE76B1}"/>
          </ac:spMkLst>
        </pc:spChg>
        <pc:spChg chg="mod">
          <ac:chgData name="Wadiley Nascimento" userId="5d58ae08-dc5d-4437-850c-ecd02000f071" providerId="ADAL" clId="{93161489-649E-4615-A3C8-73C8FC27451F}" dt="2026-01-26T16:42:10.876" v="191" actId="948"/>
          <ac:spMkLst>
            <pc:docMk/>
            <pc:sldMk cId="3805197121" sldId="281"/>
            <ac:spMk id="3" creationId="{01D83242-7E62-75EE-6288-6BD63F08F9E7}"/>
          </ac:spMkLst>
        </pc:spChg>
      </pc:sldChg>
      <pc:sldChg chg="modSp add mod">
        <pc:chgData name="Wadiley Nascimento" userId="5d58ae08-dc5d-4437-850c-ecd02000f071" providerId="ADAL" clId="{93161489-649E-4615-A3C8-73C8FC27451F}" dt="2026-01-26T16:43:42.978" v="222" actId="403"/>
        <pc:sldMkLst>
          <pc:docMk/>
          <pc:sldMk cId="365177328" sldId="282"/>
        </pc:sldMkLst>
        <pc:spChg chg="mod">
          <ac:chgData name="Wadiley Nascimento" userId="5d58ae08-dc5d-4437-850c-ecd02000f071" providerId="ADAL" clId="{93161489-649E-4615-A3C8-73C8FC27451F}" dt="2026-01-26T16:43:00.186" v="212" actId="1076"/>
          <ac:spMkLst>
            <pc:docMk/>
            <pc:sldMk cId="365177328" sldId="282"/>
            <ac:spMk id="2" creationId="{79E61557-4FDF-880C-5A94-965D290FBB4A}"/>
          </ac:spMkLst>
        </pc:spChg>
        <pc:spChg chg="mod">
          <ac:chgData name="Wadiley Nascimento" userId="5d58ae08-dc5d-4437-850c-ecd02000f071" providerId="ADAL" clId="{93161489-649E-4615-A3C8-73C8FC27451F}" dt="2026-01-26T16:43:42.978" v="222" actId="403"/>
          <ac:spMkLst>
            <pc:docMk/>
            <pc:sldMk cId="365177328" sldId="282"/>
            <ac:spMk id="3" creationId="{02E19B02-AECA-A017-C419-7D5B62FE07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34571" y="1353671"/>
            <a:ext cx="10105464" cy="5296511"/>
          </a:xfrm>
        </p:spPr>
        <p:txBody>
          <a:bodyPr>
            <a:normAutofit fontScale="47500" lnSpcReduction="2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sz="5100" u="sng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endParaRPr lang="en-US" sz="2900" u="sng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sz="6700" b="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Mudança de comportamento na Adolescência :</a:t>
            </a:r>
            <a:endParaRPr lang="en-US" sz="6700" b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PT" sz="6700" b="1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impacto no sucesso escalar</a:t>
            </a:r>
            <a:endParaRPr lang="en-US" sz="6700" b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PT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2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Decente:</a:t>
            </a:r>
          </a:p>
          <a:p>
            <a:pPr marL="450850" indent="-219075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5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Welmizirada</a:t>
            </a:r>
            <a:r>
              <a:rPr lang="pt-BR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Mata</a:t>
            </a:r>
          </a:p>
          <a:p>
            <a:pPr marL="450850" indent="-219075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5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Nadicley</a:t>
            </a:r>
            <a:r>
              <a:rPr lang="pt-BR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Nascimento</a:t>
            </a:r>
          </a:p>
          <a:p>
            <a:pPr marL="450850" indent="-219075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Fausta Figueiredo</a:t>
            </a:r>
          </a:p>
          <a:p>
            <a:pPr marL="450850" indent="-219075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5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Rosinery</a:t>
            </a:r>
            <a:r>
              <a:rPr lang="pt-BR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Castanho</a:t>
            </a:r>
          </a:p>
          <a:p>
            <a:pPr marL="450850" indent="-219075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Edina Ferreira</a:t>
            </a:r>
          </a:p>
          <a:p>
            <a:pPr marL="450850" indent="-219075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25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Malmiquer</a:t>
            </a:r>
            <a:r>
              <a:rPr lang="pt-BR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Conceição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5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Grupo Nº 4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25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pt-PT" sz="3600" b="1" i="0" u="none" strike="noStrike" kern="1200" normalizeH="0" baseline="0" noProof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LnTx/>
                <a:uFillTx/>
                <a:latin typeface="Arial Narrow" panose="020B0606020202030204" pitchFamily="34" charset="0"/>
                <a:ea typeface="+mj-ea"/>
                <a:cs typeface="+mj-cs"/>
              </a:rPr>
              <a:t>São Tome, 2025</a:t>
            </a:r>
            <a:endParaRPr lang="en-US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Imagem 4" descr="Uma imagem com logótipo, Saturação de cores, Gráficos, captura de ecrã&#10;&#10;Os conteúdos gerados por IA podem estar incorretos.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25" y="81879"/>
            <a:ext cx="5004353" cy="1378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587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2706" y="2168644"/>
            <a:ext cx="11035553" cy="4393521"/>
          </a:xfrm>
        </p:spPr>
        <p:txBody>
          <a:bodyPr>
            <a:normAutofit/>
          </a:bodyPr>
          <a:lstStyle/>
          <a:p>
            <a:pPr algn="ctr"/>
            <a:r>
              <a:rPr lang="pt-PT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Mudança de comportamento na Adolescência :</a:t>
            </a:r>
            <a:br>
              <a:rPr lang="en-US" sz="2800" b="1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pt-PT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O impacto no sucesso escalar</a:t>
            </a:r>
            <a:br>
              <a:rPr lang="pt-PT" sz="2800" b="1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br>
              <a:rPr lang="pt-PT" sz="2000" b="1" i="1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br>
              <a:rPr lang="en-US" sz="20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pt-PT" sz="2000" b="1" i="1" dirty="0">
                <a:solidFill>
                  <a:schemeClr val="bg1"/>
                </a:solidFill>
                <a:latin typeface="Arial Narrow" panose="020B0606020202030204" pitchFamily="34" charset="0"/>
              </a:rPr>
              <a:t>Unidade Curricular: </a:t>
            </a:r>
            <a:r>
              <a:rPr lang="pt-PT" sz="2000" dirty="0">
                <a:solidFill>
                  <a:schemeClr val="bg1"/>
                </a:solidFill>
                <a:latin typeface="Arial Narrow" panose="020B0606020202030204" pitchFamily="34" charset="0"/>
              </a:rPr>
              <a:t>Metodologia do Trabalho Cientifico</a:t>
            </a:r>
            <a:br>
              <a:rPr lang="en-US" sz="20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br>
              <a:rPr lang="en-US" sz="20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pt-PT" sz="2000" dirty="0">
                <a:solidFill>
                  <a:schemeClr val="bg1"/>
                </a:solidFill>
                <a:latin typeface="Arial Narrow" panose="020B0606020202030204" pitchFamily="34" charset="0"/>
              </a:rPr>
              <a:t> </a:t>
            </a:r>
            <a:br>
              <a:rPr lang="en-US" sz="20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pt-PT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Docente:</a:t>
            </a:r>
            <a:br>
              <a:rPr lang="en-US" sz="20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pt-PT" sz="2000" dirty="0">
                <a:solidFill>
                  <a:schemeClr val="bg1"/>
                </a:solidFill>
                <a:latin typeface="Arial Narrow" panose="020B0606020202030204" pitchFamily="34" charset="0"/>
              </a:rPr>
              <a:t>Helena Botelho</a:t>
            </a:r>
            <a:br>
              <a:rPr lang="pt-PT" sz="20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br>
              <a:rPr lang="pt-PT" sz="20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br>
              <a:rPr lang="en-US" sz="20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pt-PT" sz="2000" dirty="0">
                <a:solidFill>
                  <a:schemeClr val="bg1"/>
                </a:solidFill>
                <a:latin typeface="Arial Narrow" panose="020B0606020202030204" pitchFamily="34" charset="0"/>
              </a:rPr>
              <a:t>São Tome, 2025</a:t>
            </a:r>
            <a:endParaRPr lang="en-US" dirty="0"/>
          </a:p>
        </p:txBody>
      </p:sp>
      <p:pic>
        <p:nvPicPr>
          <p:cNvPr id="4" name="Marcador de Posição de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9740" y="1626291"/>
            <a:ext cx="6203577" cy="677637"/>
          </a:xfrm>
          <a:prstGeom prst="rect">
            <a:avLst/>
          </a:prstGeom>
        </p:spPr>
      </p:pic>
      <p:pic>
        <p:nvPicPr>
          <p:cNvPr id="3" name="Imagem 2" descr="Uma imagem com logótipo, Saturação de cores, Gráficos, captura de ecrã&#10;&#10;Os conteúdos gerados por IA podem estar incorretos.">
            <a:extLst>
              <a:ext uri="{FF2B5EF4-FFF2-40B4-BE49-F238E27FC236}">
                <a16:creationId xmlns:a16="http://schemas.microsoft.com/office/drawing/2014/main" id="{C0A5AA3F-453A-BBDB-C51C-904A91A3F4F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25" y="81879"/>
            <a:ext cx="5004353" cy="13782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794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F0F1-5F5E-C7EB-6634-26A36787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C1CFEEC-112B-8A69-9FAB-7389A66DFF21}"/>
              </a:ext>
            </a:extLst>
          </p:cNvPr>
          <p:cNvSpPr/>
          <p:nvPr/>
        </p:nvSpPr>
        <p:spPr>
          <a:xfrm>
            <a:off x="877762" y="571961"/>
            <a:ext cx="2412285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Introdução</a:t>
            </a:r>
            <a:endParaRPr lang="en-US" sz="1600" b="1" dirty="0">
              <a:solidFill>
                <a:schemeClr val="bg1"/>
              </a:solidFill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4348E87-3099-F241-81EF-40CABDA22DBE}"/>
              </a:ext>
            </a:extLst>
          </p:cNvPr>
          <p:cNvSpPr/>
          <p:nvPr/>
        </p:nvSpPr>
        <p:spPr>
          <a:xfrm>
            <a:off x="877762" y="1342662"/>
            <a:ext cx="10257182" cy="4542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 adolescência é um período determinante do ciclo vital humano, caracterizado por profundas transformações físicas, emocionais e sociais. </a:t>
            </a:r>
          </a:p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Essas mudanças repercutem significativamente no comportamento dos adolescentes, influenciando a sua identidade, as relações interpessoais e o desempenho académico.</a:t>
            </a:r>
          </a:p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No contexto escolar, tais transformações podem manifestar-se por meio de alterações no rendimento, na motivação para os estudos, na disciplina e na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interação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com professores e colegas. </a:t>
            </a:r>
          </a:p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Segundo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Erikson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(1976), esta fase corresponde a um momento crucial para a construção da identidade, no qual o jovem enfrenta conflitos entre identidade e confusão de papéis. </a:t>
            </a:r>
            <a:endParaRPr lang="en-US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02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7B27253-3599-AAC1-3C86-E5A596768C37}"/>
              </a:ext>
            </a:extLst>
          </p:cNvPr>
          <p:cNvSpPr/>
          <p:nvPr/>
        </p:nvSpPr>
        <p:spPr>
          <a:xfrm>
            <a:off x="877762" y="571961"/>
            <a:ext cx="2412285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Introdução</a:t>
            </a:r>
            <a:endParaRPr lang="en-US" sz="1600" b="1" dirty="0">
              <a:solidFill>
                <a:schemeClr val="bg1"/>
              </a:solidFill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F38FAA-8347-F92D-86EF-91F92A8833F5}"/>
              </a:ext>
            </a:extLst>
          </p:cNvPr>
          <p:cNvSpPr/>
          <p:nvPr/>
        </p:nvSpPr>
        <p:spPr>
          <a:xfrm>
            <a:off x="877762" y="1248195"/>
            <a:ext cx="10257182" cy="5317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u="sng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1.1 Problemática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Observa-se que um número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conseiderado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de adolescentes apresenta dificuldades académicas durante esta fase do desenvolvimento, frequentemente associadas a comportamentos de indisciplina, desmotivação e instabilidade emocional. Diante disso, formula-se a seguinte questão de investigação: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Como as mudanças de comportamento durante a adolescência influenciam o sucesso?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u="sng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1.2 Justificativa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 escolha do tema justifica-se pela necessidade de compreender os factores e transformações comportamentais características da adolescência e os seus reflexos no desempenho académico. </a:t>
            </a:r>
          </a:p>
        </p:txBody>
      </p:sp>
    </p:spTree>
    <p:extLst>
      <p:ext uri="{BB962C8B-B14F-4D97-AF65-F5344CB8AC3E}">
        <p14:creationId xmlns:p14="http://schemas.microsoft.com/office/powerpoint/2010/main" val="103575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4CA79-A188-9942-9BC2-AB334957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6F55D5F-07F0-A97F-B212-7174C5761397}"/>
              </a:ext>
            </a:extLst>
          </p:cNvPr>
          <p:cNvSpPr/>
          <p:nvPr/>
        </p:nvSpPr>
        <p:spPr>
          <a:xfrm>
            <a:off x="877762" y="571961"/>
            <a:ext cx="2412285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Introdução</a:t>
            </a:r>
            <a:endParaRPr lang="en-US" sz="1600" b="1" dirty="0">
              <a:solidFill>
                <a:schemeClr val="bg1"/>
              </a:solidFill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D4AF148-A6B5-D64B-041E-8CC1503A6A1C}"/>
              </a:ext>
            </a:extLst>
          </p:cNvPr>
          <p:cNvSpPr/>
          <p:nvPr/>
        </p:nvSpPr>
        <p:spPr>
          <a:xfrm>
            <a:off x="877762" y="1248195"/>
            <a:ext cx="10257182" cy="43368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1.3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Objetivos</a:t>
            </a:r>
            <a:endParaRPr lang="pt-PT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1.3.1 </a:t>
            </a:r>
            <a:r>
              <a:rPr lang="pt-PT" sz="2400" b="1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Objetivo</a:t>
            </a: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Geral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Analisar a influência das mudanças de comportamento durante a adolescência no sucesso escolar dos estudantes.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1.3.2 </a:t>
            </a:r>
            <a:r>
              <a:rPr lang="pt-PT" sz="2400" b="1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Objetivos</a:t>
            </a: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Específicos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•	Identificar os principais comportamentos que se alteram durante a adolescência;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•	Analisar a relação entre essas mudanças comportamentais e o rendimento escolar;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•	Propor estratégias que favoreçam o sucesso escolar durante esta fase de transição.</a:t>
            </a:r>
          </a:p>
        </p:txBody>
      </p:sp>
    </p:spTree>
    <p:extLst>
      <p:ext uri="{BB962C8B-B14F-4D97-AF65-F5344CB8AC3E}">
        <p14:creationId xmlns:p14="http://schemas.microsoft.com/office/powerpoint/2010/main" val="258527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608A9-D0B2-57BD-39AA-AE633E31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87B42F6-FB98-FE5B-9AE4-C7946970856B}"/>
              </a:ext>
            </a:extLst>
          </p:cNvPr>
          <p:cNvSpPr/>
          <p:nvPr/>
        </p:nvSpPr>
        <p:spPr>
          <a:xfrm>
            <a:off x="877762" y="571961"/>
            <a:ext cx="3765956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Enquadramento Teórico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29EA06-B547-9D1C-5646-5B531D4D4B1E}"/>
              </a:ext>
            </a:extLst>
          </p:cNvPr>
          <p:cNvSpPr/>
          <p:nvPr/>
        </p:nvSpPr>
        <p:spPr>
          <a:xfrm>
            <a:off x="877762" y="1248195"/>
            <a:ext cx="10257182" cy="4080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1800"/>
              </a:spcAft>
            </a:pPr>
            <a:r>
              <a:rPr lang="pt-PT" sz="2400" u="sng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2.1 Mudança de Comportamento na Adolescência</a:t>
            </a:r>
          </a:p>
          <a:p>
            <a:pPr algn="just">
              <a:lnSpc>
                <a:spcPct val="107000"/>
              </a:lnSpc>
              <a:spcAft>
                <a:spcPts val="1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As mudanças de comportamento observadas na adolescência resultam da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interação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entre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fatores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internos e externos. Entre os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fatores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internos destacam-se a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autoestima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, a auto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perceção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e a necessidade de afirmação, que influenciam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diretamente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as atitudes e decisões dos jovens (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Bandura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, 2008).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Os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fatores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externos incluem o contexto familiar, escolar e comunitário, os quais exercem forte influência sobre o comportamento adolescente. De acordo com estudos sobre estilos parentais, práticas educativas baseadas no diálogo, no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afeto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e em regras claras tendem a favorecer um desenvolvimento comportamental mais equilibrado.</a:t>
            </a:r>
          </a:p>
        </p:txBody>
      </p:sp>
    </p:spTree>
    <p:extLst>
      <p:ext uri="{BB962C8B-B14F-4D97-AF65-F5344CB8AC3E}">
        <p14:creationId xmlns:p14="http://schemas.microsoft.com/office/powerpoint/2010/main" val="1415781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4CB44-6165-549C-75D6-4E2458C2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E908739-F1D0-A329-7135-1385E17195DF}"/>
              </a:ext>
            </a:extLst>
          </p:cNvPr>
          <p:cNvSpPr/>
          <p:nvPr/>
        </p:nvSpPr>
        <p:spPr>
          <a:xfrm>
            <a:off x="877762" y="571961"/>
            <a:ext cx="3765956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Enquadramento Teórico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977614-A140-E060-07F5-2057E9E31772}"/>
              </a:ext>
            </a:extLst>
          </p:cNvPr>
          <p:cNvSpPr/>
          <p:nvPr/>
        </p:nvSpPr>
        <p:spPr>
          <a:xfrm>
            <a:off x="877762" y="1248195"/>
            <a:ext cx="10257182" cy="4716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As alterações biológicas associadas à puberdade, especialmente as hormonais, influenciam o humor e o comportamento. Além disso, o córtex pré-frontal, responsável pelo autocontrolo e pela tomada de decisões, encontra-se ainda em desenvolvimento, o que pode explicar a impulsividade e as dificuldades de regulação emocional comuns nesta fase.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u="sng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2.2 Desenvolvimento Psicossocial do Adolescente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 adolescência é marcada por transformações significativas nos domínios físico, cognitivo, emocional e social. Segundo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Erikson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(1976), trata-se de uma fase essencial para a construção da identidade, caracterizada pela busca de autonomia e pelo questionamento de normas e valores.</a:t>
            </a:r>
          </a:p>
        </p:txBody>
      </p:sp>
    </p:spTree>
    <p:extLst>
      <p:ext uri="{BB962C8B-B14F-4D97-AF65-F5344CB8AC3E}">
        <p14:creationId xmlns:p14="http://schemas.microsoft.com/office/powerpoint/2010/main" val="321207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50A7E-0C8B-A4D6-B859-45D6489B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91BE383-F148-F736-1B35-48D5266E676E}"/>
              </a:ext>
            </a:extLst>
          </p:cNvPr>
          <p:cNvSpPr/>
          <p:nvPr/>
        </p:nvSpPr>
        <p:spPr>
          <a:xfrm>
            <a:off x="877762" y="571961"/>
            <a:ext cx="3765956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Enquadramento Teórico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543BCCE-F99F-8A76-D6FA-FD8049C86525}"/>
              </a:ext>
            </a:extLst>
          </p:cNvPr>
          <p:cNvSpPr/>
          <p:nvPr/>
        </p:nvSpPr>
        <p:spPr>
          <a:xfrm>
            <a:off x="877762" y="1248195"/>
            <a:ext cx="10257182" cy="4322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Para Piaget (1973), a adolescência corresponde ao início do estágio das operações formais, permitindo ao jovem desenvolver o pensamento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abstrato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, formular hipóteses e exercer o pensamento crítico. Nesse contexto, o grupo de pares assume um papel central, funcionando como fonte de aprendizagem social e validação comportamental.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u="sng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2.3 Sucesso Escolar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 sucesso escolar não se restringe apenas ao desempenho académico medido por notas e aprovação. Envolve também o desenvolvimento integral do estudante, incluindo atitudes positivas em relação à aprendizagem, responsabilidade, participação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ativa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e relações interpessoais saudáveis no ambiente escolar (Gil, 2008). </a:t>
            </a:r>
          </a:p>
        </p:txBody>
      </p:sp>
    </p:spTree>
    <p:extLst>
      <p:ext uri="{BB962C8B-B14F-4D97-AF65-F5344CB8AC3E}">
        <p14:creationId xmlns:p14="http://schemas.microsoft.com/office/powerpoint/2010/main" val="149565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44669-63C3-240D-AFA1-E2C62115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6F23C0C-BB57-EF87-1FC9-2795318CC0E2}"/>
              </a:ext>
            </a:extLst>
          </p:cNvPr>
          <p:cNvSpPr/>
          <p:nvPr/>
        </p:nvSpPr>
        <p:spPr>
          <a:xfrm>
            <a:off x="877761" y="571961"/>
            <a:ext cx="4904473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Enquadramento Metodológico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4AA00E-2783-24EF-163E-AD49CA94AAD1}"/>
              </a:ext>
            </a:extLst>
          </p:cNvPr>
          <p:cNvSpPr/>
          <p:nvPr/>
        </p:nvSpPr>
        <p:spPr>
          <a:xfrm>
            <a:off x="877762" y="1248195"/>
            <a:ext cx="10257182" cy="4424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u="sng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3.1 Natureza da Pesquisa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 presente pesquisa caracteriza-se como um estudo de natureza quantitativa, uma vez que utiliza instrumentos estruturados de recolha de dados, permitindo a análise estatística dos resultados obtidos.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u="sng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3.2 Instrumento de Recolha de Dados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 instrumento utilizado foi o </a:t>
            </a: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inquérito por questionário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. Segundo Gil (2008), o questionário consiste num conjunto de perguntas elaboradas de forma lógica e coerente, com 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objetivo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de recolher informações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diretamente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dos participantes acerca de determinados fenómenos sociais.</a:t>
            </a:r>
          </a:p>
        </p:txBody>
      </p:sp>
    </p:spTree>
    <p:extLst>
      <p:ext uri="{BB962C8B-B14F-4D97-AF65-F5344CB8AC3E}">
        <p14:creationId xmlns:p14="http://schemas.microsoft.com/office/powerpoint/2010/main" val="1146578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C152-A374-1123-50B1-1C5DB7B2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4499288-CD23-EAC7-B83B-60AC6C89EF97}"/>
              </a:ext>
            </a:extLst>
          </p:cNvPr>
          <p:cNvSpPr/>
          <p:nvPr/>
        </p:nvSpPr>
        <p:spPr>
          <a:xfrm>
            <a:off x="877761" y="571961"/>
            <a:ext cx="4904473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Enquadramento Metodológico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437E359-6A05-D98A-8F5C-DC455710BEA8}"/>
              </a:ext>
            </a:extLst>
          </p:cNvPr>
          <p:cNvSpPr/>
          <p:nvPr/>
        </p:nvSpPr>
        <p:spPr>
          <a:xfrm>
            <a:off x="877762" y="1248195"/>
            <a:ext cx="10257182" cy="3033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De acordo com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Lakatos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e Marconi (2010), o </a:t>
            </a: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questionário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é um instrumento de recolha de dados composto por uma série de questões que devem ser respondidas sem a presença do investigador, assegurando maior liberdade e anonimato aos respondentes.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Foram utilizadas </a:t>
            </a: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perguntas fechadas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, nas quais as alternativas de resposta são previamente definidas pelo investigador, como opções do tipo “</a:t>
            </a:r>
            <a:r>
              <a:rPr lang="pt-PT" sz="24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sim/não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” ou escalas de concordância e discordância.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869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2B23-3690-2054-6F60-79B77ECCB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419F01-0624-80F9-0CB5-AE271D6F5F1D}"/>
              </a:ext>
            </a:extLst>
          </p:cNvPr>
          <p:cNvSpPr/>
          <p:nvPr/>
        </p:nvSpPr>
        <p:spPr>
          <a:xfrm>
            <a:off x="877761" y="571961"/>
            <a:ext cx="6060921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Análise e Apresentação dos Resultados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64F639-144E-6C9B-2A0E-63CA02EF81E9}"/>
              </a:ext>
            </a:extLst>
          </p:cNvPr>
          <p:cNvSpPr/>
          <p:nvPr/>
        </p:nvSpPr>
        <p:spPr>
          <a:xfrm>
            <a:off x="877762" y="1248195"/>
            <a:ext cx="10257182" cy="4937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Estudos e relatórios produzidos em contextos africanos, destacam que o apoio familiar e o acompanhamento escolar desempenham um papel determinante no sucesso escolar (UNESCO, 2017).</a:t>
            </a:r>
          </a:p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Por outro lado, a literatura evidencia que a ausência de suporte emocional e pedagógico pode contribuir para dificuldades de aprendizagem, comportamentos de risco e baixo aproveitamento escolar durante a adolescência (Piaget, 1973; UNESCO, 2017). </a:t>
            </a:r>
          </a:p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Importa salientar que não foi possível proceder à recolha de dados no terreno, o que constitui uma limitação metodológica. </a:t>
            </a:r>
          </a:p>
          <a:p>
            <a:pPr algn="just">
              <a:lnSpc>
                <a:spcPct val="107000"/>
              </a:lnSpc>
              <a:spcAft>
                <a:spcPts val="24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Assim, a análise realizada baseia-se exclusivamente em dados secundários e em estudos já existentes.</a:t>
            </a:r>
          </a:p>
        </p:txBody>
      </p:sp>
    </p:spTree>
    <p:extLst>
      <p:ext uri="{BB962C8B-B14F-4D97-AF65-F5344CB8AC3E}">
        <p14:creationId xmlns:p14="http://schemas.microsoft.com/office/powerpoint/2010/main" val="2289079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AA7F-F7BD-5D34-8B9E-E4D989D8C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22BDE7C-5C00-2791-7214-B16ADCFF1F2D}"/>
              </a:ext>
            </a:extLst>
          </p:cNvPr>
          <p:cNvSpPr/>
          <p:nvPr/>
        </p:nvSpPr>
        <p:spPr>
          <a:xfrm>
            <a:off x="877761" y="571961"/>
            <a:ext cx="6060921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Considerações Finais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539432E-08BF-29C2-3971-A00CA1497948}"/>
              </a:ext>
            </a:extLst>
          </p:cNvPr>
          <p:cNvSpPr/>
          <p:nvPr/>
        </p:nvSpPr>
        <p:spPr>
          <a:xfrm>
            <a:off x="877762" y="1248195"/>
            <a:ext cx="10257182" cy="4424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Conclui-se que as mudanças de comportamento características da adolescência exercem influência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direta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 no sucesso escolar.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Trata-se de uma fase sensível do desenvolvimento humano, que exige atenção especial da família, da escola e da sociedade.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PT" sz="2400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O investimento em suporte emocional, diálogo familiar, estratégias pedagógicas adequadas e acompanhamento psicológico mostra-se essencial para minimizar os impactos negativos e promover o sucesso escolar e o desenvolvimento integral do adolescente.</a:t>
            </a:r>
          </a:p>
        </p:txBody>
      </p:sp>
    </p:spTree>
    <p:extLst>
      <p:ext uri="{BB962C8B-B14F-4D97-AF65-F5344CB8AC3E}">
        <p14:creationId xmlns:p14="http://schemas.microsoft.com/office/powerpoint/2010/main" val="179128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124D-C04D-516B-5F6A-78B2351E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CFF710-56FC-9DCC-482F-B6B157AE76B1}"/>
              </a:ext>
            </a:extLst>
          </p:cNvPr>
          <p:cNvSpPr/>
          <p:nvPr/>
        </p:nvSpPr>
        <p:spPr>
          <a:xfrm>
            <a:off x="877761" y="571961"/>
            <a:ext cx="6060921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Referências Bibliográficas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1D83242-7E62-75EE-6288-6BD63F08F9E7}"/>
              </a:ext>
            </a:extLst>
          </p:cNvPr>
          <p:cNvSpPr/>
          <p:nvPr/>
        </p:nvSpPr>
        <p:spPr>
          <a:xfrm>
            <a:off x="877762" y="1248195"/>
            <a:ext cx="10257182" cy="4377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1800"/>
              </a:spcAft>
            </a:pP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Bandura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, A. (2008). Teoria social cognitiva. Artmed.</a:t>
            </a:r>
          </a:p>
          <a:p>
            <a:pPr algn="just">
              <a:lnSpc>
                <a:spcPct val="107000"/>
              </a:lnSpc>
              <a:spcAft>
                <a:spcPts val="1800"/>
              </a:spcAft>
            </a:pP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Erikson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, E. H. (1976). Juventude e crise. Zahar.</a:t>
            </a:r>
          </a:p>
          <a:p>
            <a:pPr algn="just">
              <a:lnSpc>
                <a:spcPct val="107000"/>
              </a:lnSpc>
              <a:spcAft>
                <a:spcPts val="1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Gil, A. C. (2008). Métodos e técnicas de pesquisa social (6ª ed.). Atlas.</a:t>
            </a:r>
          </a:p>
          <a:p>
            <a:pPr algn="just">
              <a:lnSpc>
                <a:spcPct val="107000"/>
              </a:lnSpc>
              <a:spcAft>
                <a:spcPts val="1800"/>
              </a:spcAft>
            </a:pP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Lakatos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, E. M., &amp; Marconi, M. A. (2010). Fundamentos de metodologia científica (7ª ed.). Atlas.</a:t>
            </a:r>
          </a:p>
          <a:p>
            <a:pPr algn="just">
              <a:lnSpc>
                <a:spcPct val="107000"/>
              </a:lnSpc>
              <a:spcAft>
                <a:spcPts val="1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Piaget, J. (1973). A psicologia da criança. Bertrand Brasil.</a:t>
            </a:r>
          </a:p>
          <a:p>
            <a:pPr algn="just">
              <a:lnSpc>
                <a:spcPct val="107000"/>
              </a:lnSpc>
              <a:spcAft>
                <a:spcPts val="1800"/>
              </a:spcAft>
            </a:pP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UNESCO. (2017). Juventude, educação e desenvolvimento em África. UNESCO </a:t>
            </a:r>
            <a:r>
              <a:rPr lang="pt-PT" sz="2400" dirty="0" err="1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Publishing</a:t>
            </a:r>
            <a:r>
              <a:rPr lang="pt-PT" sz="2400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5197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A304-6EC2-CFF1-6706-3FE7E424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9E61557-4FDF-880C-5A94-965D290FBB4A}"/>
              </a:ext>
            </a:extLst>
          </p:cNvPr>
          <p:cNvSpPr/>
          <p:nvPr/>
        </p:nvSpPr>
        <p:spPr>
          <a:xfrm>
            <a:off x="4556116" y="1450503"/>
            <a:ext cx="2900473" cy="53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PT" sz="2800" b="1" i="0" u="none" strike="noStrike" kern="1200" cap="none" spc="0" normalizeH="0" baseline="0" noProof="0" dirty="0">
                <a:ln>
                  <a:noFill/>
                </a:ln>
                <a:solidFill>
                  <a:srgbClr val="203764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AGRADECIMENTO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2E19B02-AECA-A017-C419-7D5B62FE075C}"/>
              </a:ext>
            </a:extLst>
          </p:cNvPr>
          <p:cNvSpPr/>
          <p:nvPr/>
        </p:nvSpPr>
        <p:spPr>
          <a:xfrm>
            <a:off x="967409" y="2566007"/>
            <a:ext cx="10257182" cy="1349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1800"/>
              </a:spcAft>
            </a:pPr>
            <a:endParaRPr lang="pt-PT" sz="3200" b="1" dirty="0">
              <a:solidFill>
                <a:schemeClr val="bg1"/>
              </a:solidFill>
              <a:latin typeface="Arial Narrow" panose="020B0606020202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1800"/>
              </a:spcAft>
            </a:pPr>
            <a:r>
              <a:rPr lang="pt-PT" sz="3200" b="1" dirty="0">
                <a:solidFill>
                  <a:schemeClr val="bg1"/>
                </a:solidFill>
                <a:latin typeface="Arial Narrow" panose="020B0606020202030204" pitchFamily="34" charset="0"/>
                <a:ea typeface="游明朝" panose="02020400000000000000" pitchFamily="18" charset="-128"/>
                <a:cs typeface="Times New Roman" panose="02020603050405020304" pitchFamily="18" charset="0"/>
              </a:rPr>
              <a:t>Muito obrigado pela vossa atenção</a:t>
            </a: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ea typeface="游明朝" panose="02020400000000000000" pitchFamily="18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77328"/>
      </p:ext>
    </p:extLst>
  </p:cSld>
  <p:clrMapOvr>
    <a:masterClrMapping/>
  </p:clrMapOvr>
</p:sld>
</file>

<file path=ppt/theme/theme1.xml><?xml version="1.0" encoding="utf-8"?>
<a:theme xmlns:a="http://schemas.openxmlformats.org/drawingml/2006/main" name="Setor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159</TotalTime>
  <Words>1108</Words>
  <Application>Microsoft Office PowerPoint</Application>
  <PresentationFormat>Ecrã Panorâmico</PresentationFormat>
  <Paragraphs>81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Calibri</vt:lpstr>
      <vt:lpstr>Century Gothic</vt:lpstr>
      <vt:lpstr>Times New Roman</vt:lpstr>
      <vt:lpstr>Wingdings 3</vt:lpstr>
      <vt:lpstr>Setor</vt:lpstr>
      <vt:lpstr>Apresentação do PowerPoint</vt:lpstr>
      <vt:lpstr>Mudança de comportamento na Adolescência : O impacto no sucesso escalar   Unidade Curricular: Metodologia do Trabalho Cientifico    Docente: Helena Botelho   São Tome, 2025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Wadiley Nascimento</cp:lastModifiedBy>
  <cp:revision>8</cp:revision>
  <dcterms:created xsi:type="dcterms:W3CDTF">2026-01-19T13:59:45Z</dcterms:created>
  <dcterms:modified xsi:type="dcterms:W3CDTF">2026-01-26T16:54:02Z</dcterms:modified>
</cp:coreProperties>
</file>